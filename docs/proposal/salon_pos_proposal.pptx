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SALON POS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サロン専用 POSシステム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導入提案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Calibri"/>
              </a:rPr>
              <a:t>自社開発による業務効率化とコスト削減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B8A6"/>
                </a:solidFill>
                <a:latin typeface="Calibri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現状の課題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822960"/>
            <a:ext cx="3383280" cy="3383280"/>
          </a:xfrm>
          <a:prstGeom prst="rect">
            <a:avLst/>
          </a:prstGeom>
          <a:solidFill>
            <a:srgbClr val="EBF5FB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8961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4155"/>
                </a:solidFill>
                <a:latin typeface="Calibri"/>
              </a:rPr>
              <a:t>年間維持費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25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DC2626"/>
                </a:solidFill>
                <a:latin typeface="Calibri"/>
              </a:rPr>
              <a:t>420万円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762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70店舗 × 5,000円 × 12ヶ月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334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Calibri"/>
              </a:rPr>
              <a:t>5年累計 → 2,100万円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063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（現行保守費ベース）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804672"/>
            <a:ext cx="4983480" cy="438912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595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▶  20年前のPOSシステム（VitaminC）を継続使用中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325880"/>
            <a:ext cx="4983480" cy="438912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807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▶  保守費：5,000円/店舗/月 × 70店舗 = 月35万円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47088"/>
            <a:ext cx="4983480" cy="438912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019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▶  旧システムによる業務非効率・機能不足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68296"/>
            <a:ext cx="4983480" cy="438912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▶  モバイル・クラウド非対応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89503"/>
            <a:ext cx="4983480" cy="438912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44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▶  サポート終了リスク（廃業・セキュリティ脆弱性）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提案概要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自社開発POSシステム — 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16052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現行システムの完全リプレイス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1280160"/>
            <a:ext cx="416052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対象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755648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グループ全70店舗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52928"/>
            <a:ext cx="416052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443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開発方式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Flutter（iOS/Android/タブレット）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2852928"/>
            <a:ext cx="416052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29443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データ管理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32841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オフライン対応＋クラウド同期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572000"/>
            <a:ext cx="8503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599432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社内エンジニアによる開発 → 外注費ゼロ・迅速な改修対応・完全カスタマイズ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主要機能（案）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04672"/>
            <a:ext cx="274320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POS・会計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9903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会計/レシート印刷
クーポン・割引管理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804672"/>
            <a:ext cx="274320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914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予約・スケジュール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39903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顧客予約/スタッフシフト
リマインド通知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804672"/>
            <a:ext cx="274320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914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顧客管理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9903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来店履歴/施術メモ
ポイント・VIP管理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62072"/>
            <a:ext cx="274320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在庫管理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5643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商品・薬剤の在庫追跡
発注アラート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862072"/>
            <a:ext cx="274320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971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売上レポート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45643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日次・月次・店舗別分析
本部一括確認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862072"/>
            <a:ext cx="274320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971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スタッフ管理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56432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権限設定/勤怠記録
コミッション計算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コスト比較  —  現行 vs 新システム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3977639" cy="361188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Calibri"/>
              </a:rPr>
              <a:t>現行システム（VitaminC）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520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月額保守費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55448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C2626"/>
                </a:solidFill>
                <a:latin typeface="Calibri"/>
              </a:rPr>
              <a:t>350,000円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3520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年間コスト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35915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C2626"/>
                </a:solidFill>
                <a:latin typeface="Calibri"/>
              </a:rPr>
              <a:t>4,200,000円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72384"/>
            <a:ext cx="3520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5年累計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6382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C2626"/>
                </a:solidFill>
                <a:latin typeface="Calibri"/>
              </a:rPr>
              <a:t>21,000,000円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804672"/>
            <a:ext cx="3977639" cy="36118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86868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新システム（自社開発）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463040"/>
            <a:ext cx="3520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5727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開発費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55448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一度のみ（要見積）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267712"/>
            <a:ext cx="3520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377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月額費用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35915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サーバー代のみ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3072384"/>
            <a:ext cx="35204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3182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回収期間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163824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  <a:latin typeface="Calibri"/>
              </a:rPr>
              <a:t>2〜3年で回収見込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長期的に年間350万円以上のコスト削減ポテンシャル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開発スケジュール（案）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1463040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412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フェーズ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3385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1〜2ヶ月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804672"/>
            <a:ext cx="70408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94183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要件定義・UI設計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463040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6367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フェーズ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29384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3〜5ヶ月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600200"/>
            <a:ext cx="70408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17373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コア機能開発（POS・会計機能）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95728"/>
            <a:ext cx="146304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4323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フェーズ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24912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6〜7ヶ月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395728"/>
            <a:ext cx="70408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253288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予約・顧客管理機能の開発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91256"/>
            <a:ext cx="146304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2278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フェーズ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520439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8ヶ月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191256"/>
            <a:ext cx="70408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328415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テスト店舗での試験導入（1〜2店舗）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86784"/>
            <a:ext cx="146304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023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フェーズ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31596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9〜12ヶ月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3986784"/>
            <a:ext cx="70408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412394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全70店舗への順次展開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本日の打ち合わせ  —  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4160520" cy="1965960"/>
          </a:xfrm>
          <a:prstGeom prst="rect">
            <a:avLst/>
          </a:prstGeom>
          <a:solidFill>
            <a:srgbClr val="EBF5FB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■  業務フロー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▶  1日の業務の流れ（来店〜退店）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▶  紙・Excelで管理していることは？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804672"/>
            <a:ext cx="4160520" cy="1965960"/>
          </a:xfrm>
          <a:prstGeom prst="rect">
            <a:avLst/>
          </a:prstGeom>
          <a:solidFill>
            <a:srgbClr val="EBF5FB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8961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■  現行システムの不満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371600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▶  VitaminCで一番困っていることは？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993392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▶  欲しいのに今できない機能は？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07791"/>
            <a:ext cx="4160520" cy="1965960"/>
          </a:xfrm>
          <a:prstGeom prst="rect">
            <a:avLst/>
          </a:prstGeom>
          <a:solidFill>
            <a:srgbClr val="EBF5FB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99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■  優先機能・規模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▶  まず使いたい機能のTOP3は？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96511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▶  試験導入できる店舗はある？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907791"/>
            <a:ext cx="4160520" cy="1965960"/>
          </a:xfrm>
          <a:prstGeom prst="rect">
            <a:avLst/>
          </a:prstGeom>
          <a:solidFill>
            <a:srgbClr val="EBF5FB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999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■  意思決定・予算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474720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▶  導入決定権のある方は誰ですか？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096511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▶  導入希望時期・予算感は？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※ 詳細は別紙「要件ヒアリングシート」を使用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4114800" cy="4114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5120640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✓  年間 420万円 のコスト削減ポテンシャル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120640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✓  70店舗に最適化した専用システム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5120640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✓  社内開発で迅速対応・カスタマイズ自由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7498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次のステップ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61872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89320" y="1399031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3990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399031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Calibri"/>
              </a:rPr>
              <a:t>要件ヒアリング（本日）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496312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89320" y="2633472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633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6334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Calibri"/>
              </a:rPr>
              <a:t>要件定義書の作成（1週間以内）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730752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3867912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867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867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Calibri"/>
              </a:rPr>
              <a:t>プロトタイプ提示（1ヶ月以内）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