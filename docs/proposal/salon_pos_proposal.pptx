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943600" y="-731520"/>
            <a:ext cx="4114800" cy="41148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32320" y="182880"/>
            <a:ext cx="2286000" cy="228600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4B8A6"/>
                </a:solidFill>
                <a:latin typeface="Calibri"/>
              </a:rPr>
              <a:t>SALON POS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Calibri"/>
              </a:rPr>
              <a:t>サロン専用 POSシステム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導入提案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0C4DE"/>
                </a:solidFill>
                <a:latin typeface="Calibri"/>
              </a:rPr>
              <a:t>自社開発による業務効率化とコスト削減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86200"/>
            <a:ext cx="2560320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  開発進行中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38862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B8A6"/>
                </a:solidFill>
                <a:latin typeface="Calibri"/>
              </a:rPr>
              <a:t>2026年7月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現状の課題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822960"/>
            <a:ext cx="3383280" cy="3474720"/>
          </a:xfrm>
          <a:prstGeom prst="rect">
            <a:avLst/>
          </a:prstGeom>
          <a:solidFill>
            <a:srgbClr val="FEF2F2"/>
          </a:solidFill>
          <a:ln w="9525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0" y="89611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34155"/>
                </a:solidFill>
                <a:latin typeface="Calibri"/>
              </a:rPr>
              <a:t>現行の年間維持費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298448"/>
            <a:ext cx="33832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DC2626"/>
                </a:solidFill>
                <a:latin typeface="Calibri"/>
              </a:rPr>
              <a:t>420万円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14884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70店舗 × 5,000円 × 12ヶ月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25786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C2626"/>
                </a:solidFill>
                <a:latin typeface="Calibri"/>
              </a:rPr>
              <a:t>5年累計 → 2,100万円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303580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（現行保守費ベース）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804672"/>
            <a:ext cx="4983480" cy="438912"/>
          </a:xfrm>
          <a:prstGeom prst="rect">
            <a:avLst/>
          </a:prstGeom>
          <a:solidFill>
            <a:srgbClr val="F5F7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859536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▶  20年前のシステム（VitaminC）を継続使用中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325880"/>
            <a:ext cx="4983480" cy="438912"/>
          </a:xfrm>
          <a:prstGeom prst="rect">
            <a:avLst/>
          </a:prstGeom>
          <a:solidFill>
            <a:srgbClr val="F5F7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38074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▶  保守費：5,000円/店舗/月 × 70店舗 = 月35万円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1847088"/>
            <a:ext cx="4983480" cy="438912"/>
          </a:xfrm>
          <a:prstGeom prst="rect">
            <a:avLst/>
          </a:prstGeom>
          <a:solidFill>
            <a:srgbClr val="F5F7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90195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▶  旧システムによる業務非効率・機能不足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368296"/>
            <a:ext cx="4983480" cy="438912"/>
          </a:xfrm>
          <a:prstGeom prst="rect">
            <a:avLst/>
          </a:prstGeom>
          <a:solidFill>
            <a:srgbClr val="F5F7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▶  モバイル・クラウド非対応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889503"/>
            <a:ext cx="4983480" cy="438912"/>
          </a:xfrm>
          <a:prstGeom prst="rect">
            <a:avLst/>
          </a:prstGeom>
          <a:solidFill>
            <a:srgbClr val="F5F7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94436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▶  サポート終了リスク（廃業・セキュリティ脆弱性）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開発は既に進行中  —  Milestone 1 完了（2026年7月）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Calibri"/>
              </a:rPr>
              <a:t>提案ベースではなく、実際に動くコードが存在します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61872"/>
            <a:ext cx="4160520" cy="1572768"/>
          </a:xfrm>
          <a:prstGeom prst="rect">
            <a:avLst/>
          </a:prstGeom>
          <a:solidFill>
            <a:srgbClr val="F5F7FA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38912" y="1426463"/>
            <a:ext cx="457200" cy="45720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7" y="1399031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A34A"/>
                </a:solidFill>
                <a:latin typeface="Calibri"/>
              </a:rPr>
              <a:t>会計・決済エンジン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1883664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複数決済手段（現金/カード/電子マネー）対応
返金・割引・端数処理すべて実装済み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261872"/>
            <a:ext cx="4160520" cy="1572768"/>
          </a:xfrm>
          <a:prstGeom prst="rect">
            <a:avLst/>
          </a:prstGeom>
          <a:solidFill>
            <a:srgbClr val="F5F7FA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919472" y="1426463"/>
            <a:ext cx="457200" cy="45720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04688" y="1399031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891B2"/>
                </a:solidFill>
                <a:latin typeface="Calibri"/>
              </a:rPr>
              <a:t>プロモーションエンジン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1883664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クーポン・割引ルール適用
複数プロモーション組み合わせ対応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980944"/>
            <a:ext cx="4160520" cy="1572768"/>
          </a:xfrm>
          <a:prstGeom prst="rect">
            <a:avLst/>
          </a:prstGeom>
          <a:solidFill>
            <a:srgbClr val="F5F7FA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8912" y="3145536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7" y="3118103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  <a:latin typeface="Calibri"/>
              </a:rPr>
              <a:t>スタッフ売上管理エンジン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602736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スタッフ別コミッション自動計算
権限管理・勤怠連携設計済み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2980944"/>
            <a:ext cx="4160520" cy="1572768"/>
          </a:xfrm>
          <a:prstGeom prst="rect">
            <a:avLst/>
          </a:prstGeom>
          <a:solidFill>
            <a:srgbClr val="F5F7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19472" y="3145536"/>
            <a:ext cx="457200" cy="4572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04688" y="3118103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9488"/>
                </a:solidFill>
                <a:latin typeface="Calibri"/>
              </a:rPr>
              <a:t>予約→会計 連携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602736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予約完了→そのまま会計伝票生成
シームレスなフロー実現済み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4645152"/>
            <a:ext cx="8595360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4645152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テスト373件 全通過  ／  アーキテクチャ設計書25本以上 整備済み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提案概要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9488"/>
                </a:solidFill>
                <a:latin typeface="Calibri"/>
              </a:rPr>
              <a:t>自社開発POSシステム — 概要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80160"/>
            <a:ext cx="4160520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9488"/>
                </a:solidFill>
                <a:latin typeface="Calibri"/>
              </a:rPr>
              <a:t>目的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3840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現行システムの完全リプレイス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79" y="1280160"/>
            <a:ext cx="4160520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59" y="13716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9488"/>
                </a:solidFill>
                <a:latin typeface="Calibri"/>
              </a:rPr>
              <a:t>対象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59" y="1783080"/>
            <a:ext cx="3840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グループ全70店舗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852928"/>
            <a:ext cx="4160520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94436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9488"/>
                </a:solidFill>
                <a:latin typeface="Calibri"/>
              </a:rPr>
              <a:t>開発方式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55848"/>
            <a:ext cx="3840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Flutter（iOS/Android/タブレット）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79" y="2852928"/>
            <a:ext cx="4160520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59" y="294436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9488"/>
                </a:solidFill>
                <a:latin typeface="Calibri"/>
              </a:rPr>
              <a:t>データ管理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59" y="3355848"/>
            <a:ext cx="3840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オフライン対応＋クラウド同期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72000"/>
            <a:ext cx="8503920" cy="43891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4572000"/>
            <a:ext cx="8503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社内エンジニアによる開発 → 外注費ゼロ・迅速な改修・完全カスタマイズ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主要機能（案）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804672"/>
            <a:ext cx="2743200" cy="1828800"/>
          </a:xfrm>
          <a:prstGeom prst="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14400"/>
            <a:ext cx="2148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Calibri"/>
              </a:rPr>
              <a:t>POS・会計</a:t>
            </a:r>
          </a:p>
        </p:txBody>
      </p:sp>
      <p:sp>
        <p:nvSpPr>
          <p:cNvPr id="7" name="Rectangle 6"/>
          <p:cNvSpPr/>
          <p:nvPr/>
        </p:nvSpPr>
        <p:spPr>
          <a:xfrm>
            <a:off x="2057400" y="896112"/>
            <a:ext cx="822960" cy="274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57400" y="89611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実装済み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99032"/>
            <a:ext cx="2514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会計/レシート印刷
クーポン・割引管理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54680" y="804672"/>
            <a:ext cx="2743200" cy="1828800"/>
          </a:xfrm>
          <a:prstGeom prst="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914400"/>
            <a:ext cx="2148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Calibri"/>
              </a:rPr>
              <a:t>予約・スケジュール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83480" y="896112"/>
            <a:ext cx="822960" cy="274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3480" y="89611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実装済み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99032"/>
            <a:ext cx="2514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顧客予約/スタッフシフト
リマインド通知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804672"/>
            <a:ext cx="2743200" cy="1828800"/>
          </a:xfrm>
          <a:prstGeom prst="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914400"/>
            <a:ext cx="2148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Calibri"/>
              </a:rPr>
              <a:t>顧客管理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9560" y="896112"/>
            <a:ext cx="685800" cy="27432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896112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開発中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1399032"/>
            <a:ext cx="2514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来店履歴/施術メモ
ポイント・VIP管理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2862072"/>
            <a:ext cx="2743200" cy="1828800"/>
          </a:xfrm>
          <a:prstGeom prst="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71800"/>
            <a:ext cx="2148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Calibri"/>
              </a:rPr>
              <a:t>在庫管理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57400" y="2953512"/>
            <a:ext cx="685800" cy="27432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57400" y="2953512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開発中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456432"/>
            <a:ext cx="2514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商品・薬剤の在庫追跡
発注アラート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54680" y="2862072"/>
            <a:ext cx="2743200" cy="1828800"/>
          </a:xfrm>
          <a:prstGeom prst="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0" y="2971800"/>
            <a:ext cx="2148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Calibri"/>
              </a:rPr>
              <a:t>売上レポート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83480" y="2953512"/>
            <a:ext cx="685800" cy="27432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83480" y="2953512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開発中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3456432"/>
            <a:ext cx="2514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日次・月次・店舗別分析
本部一括確認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0760" y="2862072"/>
            <a:ext cx="2743200" cy="1828800"/>
          </a:xfrm>
          <a:prstGeom prst="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0" y="2971800"/>
            <a:ext cx="2148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Calibri"/>
              </a:rPr>
              <a:t>スタッフ管理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09560" y="2953512"/>
            <a:ext cx="822960" cy="274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295351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実装済み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456432"/>
            <a:ext cx="2514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権限設定/勤怠記録
コミッション計算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コスト比較  —  現行 vs 新システム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804672"/>
            <a:ext cx="3977639" cy="3611880"/>
          </a:xfrm>
          <a:prstGeom prst="rect">
            <a:avLst/>
          </a:prstGeom>
          <a:solidFill>
            <a:srgbClr val="FEF2F2"/>
          </a:solidFill>
          <a:ln w="9525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868680"/>
            <a:ext cx="39776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C2626"/>
                </a:solidFill>
                <a:latin typeface="Calibri"/>
              </a:rPr>
              <a:t>現行システム（VitaminC）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35204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727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月額保守費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554480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DC2626"/>
                </a:solidFill>
                <a:latin typeface="Calibri"/>
              </a:rPr>
              <a:t>350,000円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35204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774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年間コスト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2359152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DC2626"/>
                </a:solidFill>
                <a:latin typeface="Calibri"/>
              </a:rPr>
              <a:t>4,200,000円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072384"/>
            <a:ext cx="35204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18211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5年累計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3163824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DC2626"/>
                </a:solidFill>
                <a:latin typeface="Calibri"/>
              </a:rPr>
              <a:t>21,000,000円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22860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4748B"/>
                </a:solidFill>
                <a:latin typeface="Calibri"/>
              </a:rPr>
              <a:t>VS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92040" y="804672"/>
            <a:ext cx="3977639" cy="3611880"/>
          </a:xfrm>
          <a:prstGeom prst="rect">
            <a:avLst/>
          </a:prstGeom>
          <a:solidFill>
            <a:srgbClr val="F0FDF4"/>
          </a:solidFill>
          <a:ln w="9525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92040" y="868680"/>
            <a:ext cx="39776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6A34A"/>
                </a:solidFill>
                <a:latin typeface="Calibri"/>
              </a:rPr>
              <a:t>新システム（自社開発）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1463040"/>
            <a:ext cx="35204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57800" y="15727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開発費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1554480"/>
            <a:ext cx="1783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16A34A"/>
                </a:solidFill>
                <a:latin typeface="Calibri"/>
              </a:rPr>
              <a:t>一度のみ（要見積）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0" y="2267712"/>
            <a:ext cx="35204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5780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月額費用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2359152"/>
            <a:ext cx="1783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16A34A"/>
                </a:solidFill>
                <a:latin typeface="Calibri"/>
              </a:rPr>
              <a:t>サーバー代のみ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3072384"/>
            <a:ext cx="35204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57800" y="318211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回収期間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3163824"/>
            <a:ext cx="1783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16A34A"/>
                </a:solidFill>
                <a:latin typeface="Calibri"/>
              </a:rPr>
              <a:t>2〜3年で回収見込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617720"/>
            <a:ext cx="8595360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4617720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長期的に年間350万円以上のコスト削減ポテンシャル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開発スケジュール（案）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804672"/>
            <a:ext cx="1463040" cy="65836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フェーズ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133856"/>
            <a:ext cx="14630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完了済み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804672"/>
            <a:ext cx="7040880" cy="658368"/>
          </a:xfrm>
          <a:prstGeom prst="rect">
            <a:avLst/>
          </a:prstGeom>
          <a:solidFill>
            <a:srgbClr val="16A34A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941832"/>
            <a:ext cx="6766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✅ 要件定義・コアエンジン開発（会計/予約/スタッフ管理）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600200"/>
            <a:ext cx="1463040" cy="65836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636776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フェーズ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1929384"/>
            <a:ext cx="14630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3〜4ヶ月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1600200"/>
            <a:ext cx="7040880" cy="658368"/>
          </a:xfrm>
          <a:prstGeom prst="rect">
            <a:avLst/>
          </a:prstGeom>
          <a:solidFill>
            <a:srgbClr val="F5F7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65960" y="1737360"/>
            <a:ext cx="6766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UI開発・店舗向けアプリ完成・決済端末連携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395728"/>
            <a:ext cx="1463040" cy="6583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2432304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フェーズ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2724912"/>
            <a:ext cx="14630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5〜6ヶ月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0" y="2395728"/>
            <a:ext cx="7040880" cy="658368"/>
          </a:xfrm>
          <a:prstGeom prst="rect">
            <a:avLst/>
          </a:prstGeom>
          <a:solidFill>
            <a:srgbClr val="F5F7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5960" y="2532888"/>
            <a:ext cx="6766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顧客管理・在庫管理・売上レポート機能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191256"/>
            <a:ext cx="1463040" cy="6583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322783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フェーズ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3520439"/>
            <a:ext cx="14630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7ヶ月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0" y="3191256"/>
            <a:ext cx="7040880" cy="658368"/>
          </a:xfrm>
          <a:prstGeom prst="rect">
            <a:avLst/>
          </a:prstGeom>
          <a:solidFill>
            <a:srgbClr val="F5F7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5960" y="3328415"/>
            <a:ext cx="6766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テスト店舗での試験導入（1〜2店舗）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986784"/>
            <a:ext cx="1463040" cy="65836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40233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フェーズ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4315968"/>
            <a:ext cx="14630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8〜12ヶ月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28800" y="3986784"/>
            <a:ext cx="7040880" cy="658368"/>
          </a:xfrm>
          <a:prstGeom prst="rect">
            <a:avLst/>
          </a:prstGeom>
          <a:solidFill>
            <a:srgbClr val="F5F7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65960" y="4123944"/>
            <a:ext cx="6766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全70店舗への順次展開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本日の打ち合わせ  —  確認したいこと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804672"/>
            <a:ext cx="4160520" cy="1965960"/>
          </a:xfrm>
          <a:prstGeom prst="rect">
            <a:avLst/>
          </a:prstGeom>
          <a:solidFill>
            <a:srgbClr val="EBF5FB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9611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Calibri"/>
              </a:rPr>
              <a:t>■  業務フロー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3886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▶  1日の流れ（来店〜退店）を教えてください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93392"/>
            <a:ext cx="3886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▶  紙・Excelで管理している業務はありますか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0600" y="804672"/>
            <a:ext cx="4160520" cy="1965960"/>
          </a:xfrm>
          <a:prstGeom prst="rect">
            <a:avLst/>
          </a:prstGeom>
          <a:solidFill>
            <a:srgbClr val="EBF5FB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89611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Calibri"/>
              </a:rPr>
              <a:t>■  現行システムの不満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1371600"/>
            <a:ext cx="3886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▶  VitaminCで一番困っていることは？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0" y="1993392"/>
            <a:ext cx="3886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▶  欲しいのに今できない機能は？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907791"/>
            <a:ext cx="4160520" cy="1965960"/>
          </a:xfrm>
          <a:prstGeom prst="rect">
            <a:avLst/>
          </a:prstGeom>
          <a:solidFill>
            <a:srgbClr val="EBF5FB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99923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Calibri"/>
              </a:rPr>
              <a:t>■  割引・プロモーション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74720"/>
            <a:ext cx="3886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▶  クーポン・割引はどう管理していますか？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96511"/>
            <a:ext cx="3886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▶  スタッフ別のコミッション計算はしていますか？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0600" y="2907791"/>
            <a:ext cx="4160520" cy="1965960"/>
          </a:xfrm>
          <a:prstGeom prst="rect">
            <a:avLst/>
          </a:prstGeom>
          <a:solidFill>
            <a:srgbClr val="EBF5FB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299923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Calibri"/>
              </a:rPr>
              <a:t>■  意思決定・予算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3474720"/>
            <a:ext cx="3886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▶  導入決定権のある方は誰ですか？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4096511"/>
            <a:ext cx="3886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▶  導入希望時期・予算感は？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※ 詳細は別紙「要件ヒアリングシート」を使用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2743200"/>
            <a:ext cx="4114800" cy="41148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Calibri"/>
              </a:rPr>
              <a:t>まとめ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5120640" cy="6217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005840"/>
            <a:ext cx="4846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✓  年間 420万円 のコスト削減ポテンシャル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5120640" cy="6217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46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✓  コアエンジンは開発完了  —  すぐに動く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68880"/>
            <a:ext cx="5120640" cy="6217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560320"/>
            <a:ext cx="4846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✓  70店舗専用・社内開発で完全カスタマイズ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749808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4B8A6"/>
                </a:solidFill>
                <a:latin typeface="Calibri"/>
              </a:rPr>
              <a:t>次のステップ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261872"/>
            <a:ext cx="30175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89320" y="1399031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1399031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1444751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3A5F"/>
                </a:solidFill>
                <a:latin typeface="Calibri"/>
              </a:rPr>
              <a:t>要件ヒアリング（本日）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0" y="2496312"/>
            <a:ext cx="30175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89320" y="2633472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6334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2679192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3A5F"/>
                </a:solidFill>
                <a:latin typeface="Calibri"/>
              </a:rPr>
              <a:t>要件定義書の作成（1週間以内）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0" y="3730752"/>
            <a:ext cx="30175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89320" y="3867912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386791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65392" y="3913632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3A5F"/>
                </a:solidFill>
                <a:latin typeface="Calibri"/>
              </a:rPr>
              <a:t>プロトタイプ提示（1ヶ月以内）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